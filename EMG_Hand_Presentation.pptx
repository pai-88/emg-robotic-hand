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FINAL-YEAR DEMONSTRATION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Myoelectric Hand Control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731520" y="3749040"/>
            <a:ext cx="146304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F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accessible EMG-controlled prosthetic alternative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212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1]    [Member 2]    [Member 3]    [Member 4]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UCL Biomedical Engineering   · 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Myoelectric Prosthetics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Out of Reach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2M+ upper-limb amputees worldwide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myoelectric hands: £30,000–£60,000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amputees in low-income regions go without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NHS assessment &amp; funding waiting lists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80960" y="2651760"/>
            <a:ext cx="4023360" cy="3200400"/>
          </a:xfrm>
          <a:prstGeom prst="rect">
            <a:avLst/>
          </a:prstGeom>
          <a:solidFill>
            <a:srgbClr val="F5E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651760"/>
            <a:ext cx="402336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310896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£30,000+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7680960" y="45262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cost of a commercial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myoelectric prosthetic hand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80960" y="5440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to add — Open Bionics, NHS prosthetics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 Robotic Hand · UCL BME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OUR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5-Gesture EMG Hand for </a:t>
            </a:r>
            <a:pPr algn="l"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~£150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signal chain: skin to servo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0060" y="2468880"/>
            <a:ext cx="1600200" cy="1280160"/>
          </a:xfrm>
          <a:prstGeom prst="rect">
            <a:avLst/>
          </a:prstGeom>
          <a:solidFill>
            <a:srgbClr val="F0C39A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" y="246888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Forearm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80260" y="2468880"/>
            <a:ext cx="320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00300" y="2468880"/>
            <a:ext cx="1600200" cy="1280160"/>
          </a:xfrm>
          <a:prstGeom prst="rect">
            <a:avLst/>
          </a:prstGeom>
          <a:solidFill>
            <a:srgbClr val="FEF6E3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00300" y="246888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AD8232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amplifier ×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00500" y="2468880"/>
            <a:ext cx="320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20540" y="2468880"/>
            <a:ext cx="1600200" cy="1280160"/>
          </a:xfrm>
          <a:prstGeom prst="rect">
            <a:avLst/>
          </a:prstGeom>
          <a:solidFill>
            <a:srgbClr val="2C3E50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20540" y="246888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UDP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20740" y="2468880"/>
            <a:ext cx="320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40780" y="2468880"/>
            <a:ext cx="1600200" cy="1280160"/>
          </a:xfrm>
          <a:prstGeom prst="rect">
            <a:avLst/>
          </a:prstGeom>
          <a:solidFill>
            <a:srgbClr val="C0392B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0780" y="246888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inference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40980" y="2468880"/>
            <a:ext cx="320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161020" y="2468880"/>
            <a:ext cx="1600200" cy="1280160"/>
          </a:xfrm>
          <a:prstGeom prst="rect">
            <a:avLst/>
          </a:prstGeom>
          <a:solidFill>
            <a:srgbClr val="16A08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61020" y="246888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PCA9685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driver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761220" y="2468880"/>
            <a:ext cx="320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081260" y="2468880"/>
            <a:ext cx="1600200" cy="1280160"/>
          </a:xfrm>
          <a:prstGeom prst="rect">
            <a:avLst/>
          </a:prstGeom>
          <a:solidFill>
            <a:srgbClr val="F0C39A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81260" y="246888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5-finger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hand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600200" y="4572000"/>
            <a:ext cx="2743200" cy="594360"/>
          </a:xfrm>
          <a:prstGeom prst="roundRect">
            <a:avLst>
              <a:gd name="adj" fmla="val 49231"/>
            </a:avLst>
          </a:prstGeom>
          <a:solidFill>
            <a:srgbClr val="F5EDD6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00200" y="45720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(20 Hz)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09160" y="4572000"/>
            <a:ext cx="2743200" cy="594360"/>
          </a:xfrm>
          <a:prstGeom prst="roundRect">
            <a:avLst>
              <a:gd name="adj" fmla="val 49231"/>
            </a:avLst>
          </a:prstGeom>
          <a:solidFill>
            <a:srgbClr val="F5EDD6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45720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wearable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818120" y="4572000"/>
            <a:ext cx="2743200" cy="594360"/>
          </a:xfrm>
          <a:prstGeom prst="roundRect">
            <a:avLst>
              <a:gd name="adj" fmla="val 49231"/>
            </a:avLst>
          </a:prstGeom>
          <a:solidFill>
            <a:srgbClr val="F5EDD6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18120" y="45720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distinct grasps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hardware reused as a live ECG / vital-signs dashboard — see Results slide.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 Robotic Hand · UCL BME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HARDWARE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+ Edge Compute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60320"/>
          <a:ext cx="60350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91440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F8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F8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7F8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~£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DevKit V1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MyoWare 2.0 sensor + Cable Shield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5 (8 GB)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PCA9685 PWM driver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 servos (MG90S)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V PSU (≥ 3 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 FSR + electrodes + accessories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£202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D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0" y="2560320"/>
            <a:ext cx="4297680" cy="3566160"/>
          </a:xfrm>
          <a:prstGeom prst="rect">
            <a:avLst/>
          </a:prstGeom>
          <a:solidFill>
            <a:srgbClr val="F5EDD6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0" y="40233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of wearable + hand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0" y="44348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image here ]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 Robotic Hand · UCL BME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SOFTWARE PIPELINE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→ Gesture → Action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2743200"/>
            <a:ext cx="2103120" cy="1463040"/>
          </a:xfrm>
          <a:prstGeom prst="rect">
            <a:avLst/>
          </a:prstGeom>
          <a:solidFill>
            <a:srgbClr val="FFFFFF"/>
          </a:solidFill>
          <a:ln w="1778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743200"/>
            <a:ext cx="210312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880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EMG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kHz · 1 ch · MyoWare 2.0 SIG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68880" y="2743200"/>
            <a:ext cx="228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97480" y="2743200"/>
            <a:ext cx="2103120" cy="1463040"/>
          </a:xfrm>
          <a:prstGeom prst="rect">
            <a:avLst/>
          </a:prstGeom>
          <a:solidFill>
            <a:srgbClr val="FFFFFF"/>
          </a:solidFill>
          <a:ln w="1778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2743200"/>
            <a:ext cx="210312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2880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threshold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88920" y="33832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 · 5 s auto-calibration · debounced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00600" y="2743200"/>
            <a:ext cx="228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0" y="2743200"/>
            <a:ext cx="2103120" cy="1463040"/>
          </a:xfrm>
          <a:prstGeom prst="rect">
            <a:avLst/>
          </a:prstGeom>
          <a:solidFill>
            <a:srgbClr val="FFFFFF"/>
          </a:solidFill>
          <a:ln w="1778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2743200"/>
            <a:ext cx="210312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880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0640" y="33832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→ close · relax → open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32320" y="2743200"/>
            <a:ext cx="228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60920" y="2743200"/>
            <a:ext cx="2103120" cy="1463040"/>
          </a:xfrm>
          <a:prstGeom prst="rect">
            <a:avLst/>
          </a:prstGeom>
          <a:solidFill>
            <a:srgbClr val="FFFFFF"/>
          </a:solidFill>
          <a:ln w="1778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60920" y="2743200"/>
            <a:ext cx="210312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0920" y="2880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feedback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52360" y="33832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FSR-402 halts closing per finger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464040" y="2743200"/>
            <a:ext cx="228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692640" y="2743200"/>
            <a:ext cx="2103120" cy="1463040"/>
          </a:xfrm>
          <a:prstGeom prst="rect">
            <a:avLst/>
          </a:prstGeom>
          <a:solidFill>
            <a:srgbClr val="FFFFFF"/>
          </a:solidFill>
          <a:ln w="1778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92640" y="2743200"/>
            <a:ext cx="210312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0" y="2880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angles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84080" y="33832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channels → finger positions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4937760"/>
            <a:ext cx="10972800" cy="777240"/>
          </a:xfrm>
          <a:prstGeom prst="rect">
            <a:avLst/>
          </a:prstGeom>
          <a:solidFill>
            <a:srgbClr val="F5E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9377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ms </a:t>
            </a:r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latency on Pi 5 CPU   </a:t>
            </a:r>
            <a:pPr algn="ctr"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sample → prediction → servo command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 Robotic Hand · UCL BME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188720" y="2377440"/>
            <a:ext cx="9784080" cy="3657600"/>
          </a:xfrm>
          <a:prstGeom prst="rect">
            <a:avLst/>
          </a:prstGeom>
          <a:solidFill>
            <a:srgbClr val="152A47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377440"/>
            <a:ext cx="9784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0" dirty="0"/>
          </a:p>
        </p:txBody>
      </p:sp>
      <p:sp>
        <p:nvSpPr>
          <p:cNvPr id="7" name="Text 5"/>
          <p:cNvSpPr/>
          <p:nvPr/>
        </p:nvSpPr>
        <p:spPr>
          <a:xfrm>
            <a:off x="1188720" y="54864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demo video — 45–60 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gesture classification driving the servo hand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 Robotic Hand · UCL BME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45920" y="2011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0" y="2011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0" y="2011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66160" y="2011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06240" y="2011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1737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→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" y="34290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true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45920" y="2423160"/>
            <a:ext cx="640080" cy="502920"/>
          </a:xfrm>
          <a:prstGeom prst="rect">
            <a:avLst/>
          </a:prstGeom>
          <a:solidFill>
            <a:srgbClr val="C13B2D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0" y="24231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0" y="2423160"/>
            <a:ext cx="640080" cy="502920"/>
          </a:xfrm>
          <a:prstGeom prst="rect">
            <a:avLst/>
          </a:prstGeom>
          <a:solidFill>
            <a:srgbClr val="F5EDD6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0" y="24231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26080" y="2423160"/>
            <a:ext cx="640080" cy="502920"/>
          </a:xfrm>
          <a:prstGeom prst="rect">
            <a:avLst/>
          </a:prstGeom>
          <a:solidFill>
            <a:srgbClr val="F4EBD4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0" y="24231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66160" y="2423160"/>
            <a:ext cx="640080" cy="502920"/>
          </a:xfrm>
          <a:prstGeom prst="rect">
            <a:avLst/>
          </a:prstGeom>
          <a:solidFill>
            <a:srgbClr val="F5EDD6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4231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06240" y="2423160"/>
            <a:ext cx="640080" cy="502920"/>
          </a:xfrm>
          <a:prstGeom prst="rect">
            <a:avLst/>
          </a:prstGeom>
          <a:solidFill>
            <a:srgbClr val="F5EDD6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0" y="24231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645920" y="2926080"/>
            <a:ext cx="640080" cy="502920"/>
          </a:xfrm>
          <a:prstGeom prst="rect">
            <a:avLst/>
          </a:prstGeom>
          <a:solidFill>
            <a:srgbClr val="F4EBD4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45920" y="29260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0" y="2926080"/>
            <a:ext cx="640080" cy="502920"/>
          </a:xfrm>
          <a:prstGeom prst="rect">
            <a:avLst/>
          </a:prstGeom>
          <a:solidFill>
            <a:srgbClr val="C34234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0" y="29260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926080" y="2926080"/>
            <a:ext cx="640080" cy="502920"/>
          </a:xfrm>
          <a:prstGeom prst="rect">
            <a:avLst/>
          </a:prstGeom>
          <a:solidFill>
            <a:srgbClr val="F4EBD4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0" y="29260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566160" y="2926080"/>
            <a:ext cx="640080" cy="502920"/>
          </a:xfrm>
          <a:prstGeom prst="rect">
            <a:avLst/>
          </a:prstGeom>
          <a:solidFill>
            <a:srgbClr val="F3E8D1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66160" y="29260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06240" y="2926080"/>
            <a:ext cx="640080" cy="502920"/>
          </a:xfrm>
          <a:prstGeom prst="rect">
            <a:avLst/>
          </a:prstGeom>
          <a:solidFill>
            <a:srgbClr val="F5EDD6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0" y="29260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645920" y="3429000"/>
            <a:ext cx="640080" cy="502920"/>
          </a:xfrm>
          <a:prstGeom prst="rect">
            <a:avLst/>
          </a:prstGeom>
          <a:solidFill>
            <a:srgbClr val="F4E9D3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45920" y="34290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286000" y="3429000"/>
            <a:ext cx="640080" cy="502920"/>
          </a:xfrm>
          <a:prstGeom prst="rect">
            <a:avLst/>
          </a:prstGeom>
          <a:solidFill>
            <a:srgbClr val="F4E9D3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0" y="34290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926080" y="3429000"/>
            <a:ext cx="640080" cy="502920"/>
          </a:xfrm>
          <a:prstGeom prst="rect">
            <a:avLst/>
          </a:prstGeom>
          <a:solidFill>
            <a:srgbClr val="C44637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0" y="34290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566160" y="3429000"/>
            <a:ext cx="640080" cy="502920"/>
          </a:xfrm>
          <a:prstGeom prst="rect">
            <a:avLst/>
          </a:prstGeom>
          <a:solidFill>
            <a:srgbClr val="F4EBD4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66160" y="34290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206240" y="3429000"/>
            <a:ext cx="640080" cy="502920"/>
          </a:xfrm>
          <a:prstGeom prst="rect">
            <a:avLst/>
          </a:prstGeom>
          <a:solidFill>
            <a:srgbClr val="F4E9D3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06240" y="34290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645920" y="3931920"/>
            <a:ext cx="640080" cy="502920"/>
          </a:xfrm>
          <a:prstGeom prst="rect">
            <a:avLst/>
          </a:prstGeom>
          <a:solidFill>
            <a:srgbClr val="F5EDD6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645920" y="39319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286000" y="3931920"/>
            <a:ext cx="640080" cy="502920"/>
          </a:xfrm>
          <a:prstGeom prst="rect">
            <a:avLst/>
          </a:prstGeom>
          <a:solidFill>
            <a:srgbClr val="F2E4CD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86000" y="39319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926080" y="3931920"/>
            <a:ext cx="640080" cy="502920"/>
          </a:xfrm>
          <a:prstGeom prst="rect">
            <a:avLst/>
          </a:prstGeom>
          <a:solidFill>
            <a:srgbClr val="F5EDD6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26080" y="39319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566160" y="3931920"/>
            <a:ext cx="640080" cy="502920"/>
          </a:xfrm>
          <a:prstGeom prst="rect">
            <a:avLst/>
          </a:prstGeom>
          <a:solidFill>
            <a:srgbClr val="CC6151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66160" y="39319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206240" y="3931920"/>
            <a:ext cx="640080" cy="502920"/>
          </a:xfrm>
          <a:prstGeom prst="rect">
            <a:avLst/>
          </a:prstGeom>
          <a:solidFill>
            <a:srgbClr val="ECCEB9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06240" y="39319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645920" y="4434840"/>
            <a:ext cx="640080" cy="502920"/>
          </a:xfrm>
          <a:prstGeom prst="rect">
            <a:avLst/>
          </a:prstGeom>
          <a:solidFill>
            <a:srgbClr val="F5EDD6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645920" y="44348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286000" y="4434840"/>
            <a:ext cx="640080" cy="502920"/>
          </a:xfrm>
          <a:prstGeom prst="rect">
            <a:avLst/>
          </a:prstGeom>
          <a:solidFill>
            <a:srgbClr val="F5EDD6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286000" y="44348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926080" y="4434840"/>
            <a:ext cx="640080" cy="502920"/>
          </a:xfrm>
          <a:prstGeom prst="rect">
            <a:avLst/>
          </a:prstGeom>
          <a:solidFill>
            <a:srgbClr val="F3E8D1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926080" y="44348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566160" y="4434840"/>
            <a:ext cx="640080" cy="502920"/>
          </a:xfrm>
          <a:prstGeom prst="rect">
            <a:avLst/>
          </a:prstGeom>
          <a:solidFill>
            <a:srgbClr val="E9C5B0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566160" y="44348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206240" y="4434840"/>
            <a:ext cx="640080" cy="502920"/>
          </a:xfrm>
          <a:prstGeom prst="rect">
            <a:avLst/>
          </a:prstGeom>
          <a:solidFill>
            <a:srgbClr val="CD6656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206240" y="44348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40080" y="5074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(placeholder — replace with your actual numbers)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949440" y="2423160"/>
            <a:ext cx="4663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949440" y="2423160"/>
            <a:ext cx="109728" cy="1005840"/>
          </a:xfrm>
          <a:prstGeom prst="rect">
            <a:avLst/>
          </a:prstGeom>
          <a:solidFill>
            <a:srgbClr val="16A0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178040" y="24231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3200" dirty="0"/>
          </a:p>
        </p:txBody>
      </p:sp>
      <p:sp>
        <p:nvSpPr>
          <p:cNvPr id="71" name="Text 69"/>
          <p:cNvSpPr/>
          <p:nvPr/>
        </p:nvSpPr>
        <p:spPr>
          <a:xfrm>
            <a:off x="9326880" y="24231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Per-subject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6949440" y="3566160"/>
            <a:ext cx="4663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949440" y="3566160"/>
            <a:ext cx="109728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178040" y="35661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200" dirty="0"/>
          </a:p>
        </p:txBody>
      </p:sp>
      <p:sp>
        <p:nvSpPr>
          <p:cNvPr id="75" name="Text 73"/>
          <p:cNvSpPr/>
          <p:nvPr/>
        </p:nvSpPr>
        <p:spPr>
          <a:xfrm>
            <a:off x="9326880" y="35661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Cross-subject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6949440" y="4709160"/>
            <a:ext cx="4663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949440" y="4709160"/>
            <a:ext cx="109728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178040" y="47091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ms</a:t>
            </a:r>
            <a:endParaRPr lang="en-US" sz="3200" dirty="0"/>
          </a:p>
        </p:txBody>
      </p:sp>
      <p:sp>
        <p:nvSpPr>
          <p:cNvPr id="79" name="Text 77"/>
          <p:cNvSpPr/>
          <p:nvPr/>
        </p:nvSpPr>
        <p:spPr>
          <a:xfrm>
            <a:off x="9326880" y="47091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solidFill>
            <a:srgbClr val="F5E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 </a:t>
            </a:r>
            <a:pPr algn="ctr" indent="0" marL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CNN vs SVM on classical features (MAV, RMS, ZC, WL) — CNN +8% accuracy on the same test set.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 Robotic Hand · UCL BME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£200</a:t>
            </a:r>
            <a:pPr algn="ctr" indent="0" marL="0">
              <a:buNone/>
            </a:pPr>
            <a:r>
              <a:rPr lang="en-US" sz="3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vs   </a:t>
            </a:r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£30,000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640080" y="2971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F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150× cost reduction · open-source · replicable by BME students, makers, low-income clinics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23560" y="3611880"/>
            <a:ext cx="9144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840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4297680"/>
            <a:ext cx="3383280" cy="1371600"/>
          </a:xfrm>
          <a:prstGeom prst="rect">
            <a:avLst/>
          </a:prstGeom>
          <a:solidFill>
            <a:srgbClr val="152A47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4297680"/>
            <a:ext cx="73152" cy="1371600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44348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EMG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49377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F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gestures beyond open/close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F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(currently 1 channel)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4297680"/>
            <a:ext cx="3383280" cy="1371600"/>
          </a:xfrm>
          <a:prstGeom prst="rect">
            <a:avLst/>
          </a:prstGeom>
          <a:solidFill>
            <a:srgbClr val="152A47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4297680"/>
            <a:ext cx="73152" cy="1371600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44348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fingertip force sensors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7720" y="49377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F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Per-finger closed-loop control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F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(currently 3 FSRs)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4297680"/>
            <a:ext cx="3383280" cy="1371600"/>
          </a:xfrm>
          <a:prstGeom prst="rect">
            <a:avLst/>
          </a:prstGeom>
          <a:solidFill>
            <a:srgbClr val="152A47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4297680"/>
            <a:ext cx="73152" cy="1371600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44348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Cross-subject pretraining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75320" y="49377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F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Generalise to new users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F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(Ninapro DB2 transfer)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0807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myoelectric prosthetics, built today.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Low-Cost Myoelectric Hand Control</dc:title>
  <dc:subject>PptxGenJS Presentation</dc:subject>
  <dc:creator>UCL BME Team</dc:creator>
  <cp:lastModifiedBy>UCL BME Team</cp:lastModifiedBy>
  <cp:revision>1</cp:revision>
  <dcterms:created xsi:type="dcterms:W3CDTF">2026-05-27T14:09:09Z</dcterms:created>
  <dcterms:modified xsi:type="dcterms:W3CDTF">2026-05-27T14:09:09Z</dcterms:modified>
</cp:coreProperties>
</file>